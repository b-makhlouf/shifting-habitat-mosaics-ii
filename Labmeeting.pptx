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3" r:id="rId3"/>
    <p:sldId id="284" r:id="rId4"/>
    <p:sldId id="258" r:id="rId5"/>
    <p:sldId id="262" r:id="rId6"/>
    <p:sldId id="285" r:id="rId7"/>
    <p:sldId id="286" r:id="rId8"/>
    <p:sldId id="288" r:id="rId9"/>
    <p:sldId id="261" r:id="rId10"/>
    <p:sldId id="263" r:id="rId11"/>
    <p:sldId id="264" r:id="rId12"/>
    <p:sldId id="265" r:id="rId13"/>
    <p:sldId id="289" r:id="rId14"/>
    <p:sldId id="260" r:id="rId15"/>
    <p:sldId id="267" r:id="rId16"/>
    <p:sldId id="268" r:id="rId17"/>
    <p:sldId id="269" r:id="rId18"/>
    <p:sldId id="270" r:id="rId19"/>
    <p:sldId id="271" r:id="rId20"/>
    <p:sldId id="272" r:id="rId21"/>
    <p:sldId id="266" r:id="rId22"/>
    <p:sldId id="273" r:id="rId23"/>
    <p:sldId id="274" r:id="rId24"/>
    <p:sldId id="276" r:id="rId25"/>
    <p:sldId id="275" r:id="rId26"/>
    <p:sldId id="291" r:id="rId27"/>
    <p:sldId id="277" r:id="rId28"/>
    <p:sldId id="279" r:id="rId29"/>
    <p:sldId id="281" r:id="rId30"/>
    <p:sldId id="292" r:id="rId31"/>
    <p:sldId id="27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68"/>
    <p:restoredTop sz="94620"/>
  </p:normalViewPr>
  <p:slideViewPr>
    <p:cSldViewPr snapToGrid="0">
      <p:cViewPr>
        <p:scale>
          <a:sx n="93" d="100"/>
          <a:sy n="93" d="100"/>
        </p:scale>
        <p:origin x="4408" y="2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C7913-AF2E-B042-AAE0-736FEC50AB46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DE973-6F12-E74A-8D64-A7F2CCCF1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5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77455-101A-F142-B7C0-D7D62AC8BB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6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EECBC-82D3-FBA9-C2BA-1F7C22A0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B53DA-977B-6AFB-29C2-0428C4C9E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49822-895A-D61C-F586-E12E8CA20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528F6-B197-0702-96F6-D9DBD707F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77455-101A-F142-B7C0-D7D62AC8BB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97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DE973-6F12-E74A-8D64-A7F2CCCF1C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6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DE973-6F12-E74A-8D64-A7F2CCCF1C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56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57596-F4DE-E769-2769-E4F391E9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1F24D-CCCF-6584-83CB-82481FD19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4D77E-94CF-E7EF-5EFB-74FA977E3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7DE65-5342-5AB4-6B78-AD0D32618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DE973-6F12-E74A-8D64-A7F2CCCF1C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52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D735A-C773-14C3-42E7-3D5A15EA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19AE1-CB98-261A-E03A-93751EE2A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58E06-C318-7775-96D3-0FB0BA515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4D0C9-7A4A-1B82-B1D3-6BD29000B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DE973-6F12-E74A-8D64-A7F2CCCF1C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69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DE973-6F12-E74A-8D64-A7F2CCCF1C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61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A021-3217-ED47-115E-B2123BC9C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409AE1-C182-9CFB-F6C4-1E89DCD18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8A5-6923-B24A-04E3-833FED71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FCE09-D3EC-92CD-C6CA-FB5C2030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8F90-464F-0425-1553-0456B689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D70D-6A4E-D5EB-E948-53143D6F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3308C-2C5E-CFBB-817C-485A28A98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1F2CB-2110-7517-81B3-470B110D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FEDD6-2C8E-A6CE-A5E8-6393CC44B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C6412-2ACE-7E74-2A7A-02CD3647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2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F2FF-A239-FDD4-B43B-D4C407AB5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74C71-809F-CF37-0837-BDA420237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800FC-AA7E-EFA3-6DC3-1543D585B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CA72B-8AED-CB31-D6AD-527B256D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BB25D-2545-4060-9070-30C8B75B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3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5C5B-C2B1-1020-D0A1-90D0AF62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837A1-4C49-13E5-10F8-D8EF20FE3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D9C53-7FFD-A5F7-97CD-A3C9E0EA3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EB10F-F537-5212-18BF-7FCD3EAB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33D0E-A0AC-8E3F-5DA5-654B7082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DFAF9-5421-9295-1196-67F2F84F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4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BD4AA-E591-01DA-BC96-E6F396D3B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2DB1E-0505-66DF-70F6-97F4BA3C1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0F9E9-EC76-C4D9-1DB3-DA3178FC0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CFF8-E983-3035-6E7C-CB9C13712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CC2F4-10C6-AFDD-391A-76AABD829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340071-52A7-1CE7-0B2D-3AF7EF8C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DEC34E-7C5C-A846-88E6-5731A58A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26C3D-1829-8019-7FA9-47CE68226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3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5048-F0E8-26BC-5EFB-5F995B2E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CF369-1A7B-6B8C-36E9-3A8B6DC6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6765CE-DC16-3C0B-16C1-DE6AC4BA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4B23C-3C92-8FD0-B2F6-336E5002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30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9AE10-3397-6B27-35D9-3860F8B9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4E01-ED50-7BB9-A8E8-19D42B59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4EA05-F120-F841-EA41-2CD784605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92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9075D-D85E-073B-A998-1CAADB24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4AA8D-7831-DBEE-32B5-CD2E11EFA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4168D-C97F-FBD1-8AF4-86AE3BB25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E30C8-6508-612B-EE67-CB85F8E7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56AC4-E745-7554-2A50-63FBF94E7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E58A2-DE77-DC29-9F97-DE63A44C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5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5E690-D9B4-AB21-04B0-BCAF7E676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7DD65-C221-1EB4-4C68-FA355183C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83DD9-C1DB-72EC-58EE-154DACA37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AE6C2-956F-6265-4865-75B259470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D08B6-578B-FB8C-1233-E20C6FEB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B983D-3A49-93B6-62DA-C8B945D1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5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6994E-4281-06FE-E59D-442E10DE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52844-6986-6FDC-D7A3-41B1B7F3D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33A51-BC81-54E7-2A81-F24D06ECD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BE174-3DD2-420B-AC00-4141CC51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7438A-B1ED-6F3B-2431-FA3578C1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3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D6A5EB-A68C-DF10-8663-A4385A530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EC851-49D1-85E1-C1A1-E1506FC8B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207DB-447F-071B-D612-99CD3404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C07A-EC81-2C31-BCC9-5C7BF78D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25C57-E903-FD2A-A211-356156B9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3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FB5E8A-1904-A924-B3C1-6D7233CE6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B63F4-43E8-49A0-E029-40E56EC3E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72BB8-2176-DA00-F448-953EA4595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F99E7-A881-774C-BEB6-B525517575A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F44C4-9127-89B5-231D-E5ADD0F2E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1E908-12CB-BA75-B7C5-55C16223B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5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D98C-406B-DECE-8429-8DE6A005F1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SMH2 Brainstorm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4027D-C219-54B8-50ED-2F20C77C3D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7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Silver Salmon at Goodnews River Camp | Reports | Where Wise Men Fish">
            <a:extLst>
              <a:ext uri="{FF2B5EF4-FFF2-40B4-BE49-F238E27FC236}">
                <a16:creationId xmlns:a16="http://schemas.microsoft.com/office/drawing/2014/main" id="{EB6407A5-4800-C95F-B504-AB3E6FD80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6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68E0E-5E2D-2610-9F3F-65212159F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Understanding </a:t>
            </a:r>
            <a:r>
              <a:rPr lang="en-US" sz="2000" b="1" dirty="0"/>
              <a:t>the ecological function </a:t>
            </a:r>
            <a:r>
              <a:rPr lang="en-US" sz="2000" dirty="0"/>
              <a:t>of </a:t>
            </a:r>
            <a:r>
              <a:rPr lang="en-US" sz="2000" b="1" dirty="0"/>
              <a:t>healthy, in tact watersheds</a:t>
            </a:r>
            <a:r>
              <a:rPr lang="en-US" sz="2000" dirty="0"/>
              <a:t> is important for designing strategies to maintain this function and restore impacted watersheds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1688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A2D2-5E98-554C-16FA-74C1C1DE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DF693-2E08-F400-C38C-0A69CD854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 descr="Native Trout Fly Fishing: Chinook Salmon">
            <a:extLst>
              <a:ext uri="{FF2B5EF4-FFF2-40B4-BE49-F238E27FC236}">
                <a16:creationId xmlns:a16="http://schemas.microsoft.com/office/drawing/2014/main" id="{B3A2F9F8-0BB6-A7E8-9D3D-38D034B4B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5901" y="0"/>
            <a:ext cx="14367269" cy="713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DC8F30-13C1-28D5-65BA-065990889C7C}"/>
              </a:ext>
            </a:extLst>
          </p:cNvPr>
          <p:cNvSpPr/>
          <p:nvPr/>
        </p:nvSpPr>
        <p:spPr>
          <a:xfrm>
            <a:off x="4023360" y="1246909"/>
            <a:ext cx="3890356" cy="2859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95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7B66E-323D-7E6B-756E-4CC2805F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 descr="A map of china with many rivers&#10;&#10;AI-generated content may be incorrect.">
            <a:extLst>
              <a:ext uri="{FF2B5EF4-FFF2-40B4-BE49-F238E27FC236}">
                <a16:creationId xmlns:a16="http://schemas.microsoft.com/office/drawing/2014/main" id="{E8496026-B24A-7C3B-0023-6E25FC306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79174" y="0"/>
            <a:ext cx="8875057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72C4D-0E65-A550-A080-594F155F5389}"/>
              </a:ext>
            </a:extLst>
          </p:cNvPr>
          <p:cNvSpPr/>
          <p:nvPr/>
        </p:nvSpPr>
        <p:spPr>
          <a:xfrm>
            <a:off x="-909876" y="0"/>
            <a:ext cx="6544122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0D3D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D9F2F4-3F4B-ADC3-06A9-7099E767EB30}"/>
              </a:ext>
            </a:extLst>
          </p:cNvPr>
          <p:cNvSpPr txBox="1"/>
          <p:nvPr/>
        </p:nvSpPr>
        <p:spPr>
          <a:xfrm>
            <a:off x="4304834" y="4078281"/>
            <a:ext cx="1591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9EBBD7"/>
                </a:solidFill>
                <a:latin typeface="Aptos Black" panose="020F0502020204030204" pitchFamily="34" charset="0"/>
              </a:rPr>
              <a:t>Yukon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5AC00-D095-22BC-13E3-9EB24186FE1E}"/>
              </a:ext>
            </a:extLst>
          </p:cNvPr>
          <p:cNvSpPr txBox="1"/>
          <p:nvPr/>
        </p:nvSpPr>
        <p:spPr>
          <a:xfrm>
            <a:off x="3714427" y="5023315"/>
            <a:ext cx="2526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D6666"/>
                </a:solidFill>
                <a:latin typeface="Aptos Black" panose="020F0502020204030204" pitchFamily="34" charset="0"/>
              </a:rPr>
              <a:t>Kuskokwim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A6B528-C125-C326-C78E-F00C70D4563F}"/>
              </a:ext>
            </a:extLst>
          </p:cNvPr>
          <p:cNvSpPr txBox="1"/>
          <p:nvPr/>
        </p:nvSpPr>
        <p:spPr>
          <a:xfrm>
            <a:off x="4977820" y="5840959"/>
            <a:ext cx="2526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98AB69"/>
                </a:solidFill>
                <a:latin typeface="Aptos Black" panose="020F0502020204030204" pitchFamily="34" charset="0"/>
              </a:rPr>
              <a:t>Nushagak</a:t>
            </a:r>
            <a:endParaRPr lang="en-US" sz="3200" dirty="0">
              <a:solidFill>
                <a:srgbClr val="98AB69"/>
              </a:solidFill>
              <a:latin typeface="Aptos Black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7638D7-3701-5619-3727-28C9BA138D56}"/>
              </a:ext>
            </a:extLst>
          </p:cNvPr>
          <p:cNvCxnSpPr>
            <a:cxnSpLocks/>
          </p:cNvCxnSpPr>
          <p:nvPr/>
        </p:nvCxnSpPr>
        <p:spPr>
          <a:xfrm>
            <a:off x="10070743" y="1060002"/>
            <a:ext cx="778213" cy="4034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Maple Leaf with solid fill">
            <a:extLst>
              <a:ext uri="{FF2B5EF4-FFF2-40B4-BE49-F238E27FC236}">
                <a16:creationId xmlns:a16="http://schemas.microsoft.com/office/drawing/2014/main" id="{5C1219E2-4988-3A9A-2DB4-7CA3989F5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9442" y="4753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0207CA-1C7E-E984-C019-F47BF7721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29" y="443783"/>
            <a:ext cx="4915744" cy="28110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8166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F7625-5452-45B6-A11C-79C938714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647" y="28766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Prevailing environmental conditions</a:t>
            </a:r>
            <a:r>
              <a:rPr lang="en-US" sz="2000" dirty="0"/>
              <a:t> (i.e. local </a:t>
            </a:r>
            <a:r>
              <a:rPr lang="en-US" sz="2000" dirty="0" err="1"/>
              <a:t>precip</a:t>
            </a:r>
            <a:r>
              <a:rPr lang="en-US" sz="2000" dirty="0"/>
              <a:t>, temperature) </a:t>
            </a:r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71B63AA8-8F90-314C-FA39-DC08CF47177E}"/>
              </a:ext>
            </a:extLst>
          </p:cNvPr>
          <p:cNvSpPr/>
          <p:nvPr/>
        </p:nvSpPr>
        <p:spPr>
          <a:xfrm>
            <a:off x="5696989" y="846683"/>
            <a:ext cx="399011" cy="545173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8F8183-D547-D20E-0997-1EA6455D5C36}"/>
              </a:ext>
            </a:extLst>
          </p:cNvPr>
          <p:cNvSpPr txBox="1"/>
          <p:nvPr/>
        </p:nvSpPr>
        <p:spPr>
          <a:xfrm>
            <a:off x="2822171" y="1480156"/>
            <a:ext cx="10915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Locally adapted sub-populations </a:t>
            </a:r>
            <a:r>
              <a:rPr lang="en-US" dirty="0"/>
              <a:t>(</a:t>
            </a:r>
            <a:r>
              <a:rPr lang="en-US" dirty="0" err="1"/>
              <a:t>i.e.run</a:t>
            </a:r>
            <a:r>
              <a:rPr lang="en-US" dirty="0"/>
              <a:t> timing, spatial habitat use) </a:t>
            </a:r>
          </a:p>
        </p:txBody>
      </p:sp>
      <p:sp>
        <p:nvSpPr>
          <p:cNvPr id="7" name="Multiply 6">
            <a:extLst>
              <a:ext uri="{FF2B5EF4-FFF2-40B4-BE49-F238E27FC236}">
                <a16:creationId xmlns:a16="http://schemas.microsoft.com/office/drawing/2014/main" id="{24445AD3-0810-B32D-819E-7D02649F8166}"/>
              </a:ext>
            </a:extLst>
          </p:cNvPr>
          <p:cNvSpPr/>
          <p:nvPr/>
        </p:nvSpPr>
        <p:spPr>
          <a:xfrm>
            <a:off x="5696989" y="2259627"/>
            <a:ext cx="429492" cy="546719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90EA4-6963-8610-8C3D-B976A1AF60C5}"/>
              </a:ext>
            </a:extLst>
          </p:cNvPr>
          <p:cNvSpPr txBox="1"/>
          <p:nvPr/>
        </p:nvSpPr>
        <p:spPr>
          <a:xfrm>
            <a:off x="1557251" y="2806346"/>
            <a:ext cx="10915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Geomorphology and successional processes </a:t>
            </a:r>
            <a:r>
              <a:rPr lang="en-US" dirty="0"/>
              <a:t>(</a:t>
            </a:r>
            <a:r>
              <a:rPr lang="en-US" dirty="0" err="1"/>
              <a:t>i.e</a:t>
            </a:r>
            <a:r>
              <a:rPr lang="en-US" dirty="0"/>
              <a:t> changes to local veg, physical habitat conditions)  </a:t>
            </a:r>
          </a:p>
        </p:txBody>
      </p:sp>
      <p:pic>
        <p:nvPicPr>
          <p:cNvPr id="4098" name="Picture 2" descr="Modern Mosaic Art | X-ACTO">
            <a:extLst>
              <a:ext uri="{FF2B5EF4-FFF2-40B4-BE49-F238E27FC236}">
                <a16:creationId xmlns:a16="http://schemas.microsoft.com/office/drawing/2014/main" id="{F3E046E2-1239-6710-B196-11DAB4695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075" y="3403390"/>
            <a:ext cx="4056611" cy="32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272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0863A3-36CF-CE95-05FC-A9B3ED12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62" y="921191"/>
            <a:ext cx="4673138" cy="2865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79E993-C20B-D30D-7492-2C321FADD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17" y="4183576"/>
            <a:ext cx="7772400" cy="2109793"/>
          </a:xfrm>
          <a:prstGeom prst="rect">
            <a:avLst/>
          </a:prstGeom>
        </p:spPr>
      </p:pic>
      <p:sp>
        <p:nvSpPr>
          <p:cNvPr id="6" name="Up Arrow 5">
            <a:extLst>
              <a:ext uri="{FF2B5EF4-FFF2-40B4-BE49-F238E27FC236}">
                <a16:creationId xmlns:a16="http://schemas.microsoft.com/office/drawing/2014/main" id="{D267D896-622C-9609-2C3A-3C0F6543FB0F}"/>
              </a:ext>
            </a:extLst>
          </p:cNvPr>
          <p:cNvSpPr/>
          <p:nvPr/>
        </p:nvSpPr>
        <p:spPr>
          <a:xfrm rot="16200000">
            <a:off x="6894477" y="1440556"/>
            <a:ext cx="419389" cy="140762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Up Arrow 6">
            <a:extLst>
              <a:ext uri="{FF2B5EF4-FFF2-40B4-BE49-F238E27FC236}">
                <a16:creationId xmlns:a16="http://schemas.microsoft.com/office/drawing/2014/main" id="{59CA0407-772F-8F88-49F9-3FABB1C6CA6E}"/>
              </a:ext>
            </a:extLst>
          </p:cNvPr>
          <p:cNvSpPr/>
          <p:nvPr/>
        </p:nvSpPr>
        <p:spPr>
          <a:xfrm rot="16200000">
            <a:off x="8868612" y="4837114"/>
            <a:ext cx="423314" cy="135220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FA373-9D04-8A11-A7EB-D772DE155195}"/>
              </a:ext>
            </a:extLst>
          </p:cNvPr>
          <p:cNvSpPr txBox="1"/>
          <p:nvPr/>
        </p:nvSpPr>
        <p:spPr>
          <a:xfrm>
            <a:off x="7913279" y="1821200"/>
            <a:ext cx="2741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“Production” (Natal Origin distribution?)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6B35E-3CB5-131C-8019-EF68D8736EB3}"/>
              </a:ext>
            </a:extLst>
          </p:cNvPr>
          <p:cNvSpPr txBox="1"/>
          <p:nvPr/>
        </p:nvSpPr>
        <p:spPr>
          <a:xfrm>
            <a:off x="9942021" y="5355541"/>
            <a:ext cx="2100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Growth/individual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F40BB-EC0F-97B2-8384-E97D151DB14C}"/>
              </a:ext>
            </a:extLst>
          </p:cNvPr>
          <p:cNvSpPr txBox="1"/>
          <p:nvPr/>
        </p:nvSpPr>
        <p:spPr>
          <a:xfrm>
            <a:off x="1047404" y="0"/>
            <a:ext cx="100417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Shifting patterns of ”Production” </a:t>
            </a:r>
          </a:p>
        </p:txBody>
      </p:sp>
    </p:spTree>
    <p:extLst>
      <p:ext uri="{BB962C8B-B14F-4D97-AF65-F5344CB8AC3E}">
        <p14:creationId xmlns:p14="http://schemas.microsoft.com/office/powerpoint/2010/main" val="3666266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D3CE-DFC2-7278-E030-238B73670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buffering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3194C-74F4-1E03-E684-C4BCF0F96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expect that production among sub-components is negatively or weakly correlated. (i.e. some are more productive when others are less)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 larger spatial scales, this buffers overall return variability </a:t>
            </a:r>
          </a:p>
        </p:txBody>
      </p:sp>
    </p:spTree>
    <p:extLst>
      <p:ext uri="{BB962C8B-B14F-4D97-AF65-F5344CB8AC3E}">
        <p14:creationId xmlns:p14="http://schemas.microsoft.com/office/powerpoint/2010/main" val="2074118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77547-5D4B-00B2-33E1-742B31DE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69F3-B8BE-96F1-6B63-046DAC7C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 descr="A map of china with many rivers&#10;&#10;AI-generated content may be incorrect.">
            <a:extLst>
              <a:ext uri="{FF2B5EF4-FFF2-40B4-BE49-F238E27FC236}">
                <a16:creationId xmlns:a16="http://schemas.microsoft.com/office/drawing/2014/main" id="{9E75CE67-85E5-A273-3F3C-B68357AE8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79174" y="0"/>
            <a:ext cx="8875057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5EB2B3B-AE91-AED5-7D56-6227711B6E1D}"/>
              </a:ext>
            </a:extLst>
          </p:cNvPr>
          <p:cNvSpPr/>
          <p:nvPr/>
        </p:nvSpPr>
        <p:spPr>
          <a:xfrm>
            <a:off x="-909876" y="0"/>
            <a:ext cx="6544122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0D3D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8C542C-F219-4954-F3F1-52CAF1CBA123}"/>
              </a:ext>
            </a:extLst>
          </p:cNvPr>
          <p:cNvCxnSpPr>
            <a:cxnSpLocks/>
          </p:cNvCxnSpPr>
          <p:nvPr/>
        </p:nvCxnSpPr>
        <p:spPr>
          <a:xfrm>
            <a:off x="10070743" y="1060002"/>
            <a:ext cx="778213" cy="4034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Maple Leaf with solid fill">
            <a:extLst>
              <a:ext uri="{FF2B5EF4-FFF2-40B4-BE49-F238E27FC236}">
                <a16:creationId xmlns:a16="http://schemas.microsoft.com/office/drawing/2014/main" id="{8583FA47-7163-53BA-9706-1A54F07985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9442" y="4753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D142271B-10FF-1FD8-F802-DD7DCBE88F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09823" y="5676146"/>
            <a:ext cx="914400" cy="914400"/>
          </a:xfrm>
          <a:prstGeom prst="rect">
            <a:avLst/>
          </a:prstGeom>
        </p:spPr>
      </p:pic>
      <p:pic>
        <p:nvPicPr>
          <p:cNvPr id="9" name="Graphic 8" descr="Question Mark with solid fill">
            <a:extLst>
              <a:ext uri="{FF2B5EF4-FFF2-40B4-BE49-F238E27FC236}">
                <a16:creationId xmlns:a16="http://schemas.microsoft.com/office/drawing/2014/main" id="{5165FC96-3E18-021E-A32A-CD5213AD6A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7289" y="3763933"/>
            <a:ext cx="914400" cy="914400"/>
          </a:xfrm>
          <a:prstGeom prst="rect">
            <a:avLst/>
          </a:prstGeom>
        </p:spPr>
      </p:pic>
      <p:pic>
        <p:nvPicPr>
          <p:cNvPr id="12" name="Graphic 11" descr="Question Mark with solid fill">
            <a:extLst>
              <a:ext uri="{FF2B5EF4-FFF2-40B4-BE49-F238E27FC236}">
                <a16:creationId xmlns:a16="http://schemas.microsoft.com/office/drawing/2014/main" id="{F669221D-4073-33C5-ED66-526FFAEA23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50768" y="5218946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1DF566-59EE-D3FC-F227-321A0AC94430}"/>
              </a:ext>
            </a:extLst>
          </p:cNvPr>
          <p:cNvSpPr txBox="1"/>
          <p:nvPr/>
        </p:nvSpPr>
        <p:spPr>
          <a:xfrm>
            <a:off x="151457" y="1136725"/>
            <a:ext cx="5183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Do we see shifting patterns of natal origin production across years? Growth patterns?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36B0F1-BB30-0B84-C0B3-2F616D1225FB}"/>
              </a:ext>
            </a:extLst>
          </p:cNvPr>
          <p:cNvSpPr txBox="1"/>
          <p:nvPr/>
        </p:nvSpPr>
        <p:spPr>
          <a:xfrm>
            <a:off x="151457" y="2469038"/>
            <a:ext cx="5183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IS there a relationship between productivity and variability? Are the most productive regions reliably always productive?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4E44E7-8A21-883B-D03E-4270E06F1FD5}"/>
              </a:ext>
            </a:extLst>
          </p:cNvPr>
          <p:cNvSpPr txBox="1"/>
          <p:nvPr/>
        </p:nvSpPr>
        <p:spPr>
          <a:xfrm>
            <a:off x="151457" y="4032627"/>
            <a:ext cx="5183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Do uncorrelated components result in less variability at larger spatial scales</a:t>
            </a:r>
          </a:p>
        </p:txBody>
      </p:sp>
    </p:spTree>
    <p:extLst>
      <p:ext uri="{BB962C8B-B14F-4D97-AF65-F5344CB8AC3E}">
        <p14:creationId xmlns:p14="http://schemas.microsoft.com/office/powerpoint/2010/main" val="1301576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74E76-248C-7141-07C1-BBC3993D0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58611"/>
            <a:ext cx="3458029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For the Yukon, we have 6 years of data. But most are incomplete:  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3DF65538-64A7-9C05-DECE-2952B56B3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0959" y="152470"/>
            <a:ext cx="7863670" cy="655306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3ECEF7-190D-0661-1DA9-AD5923B641F1}"/>
              </a:ext>
            </a:extLst>
          </p:cNvPr>
          <p:cNvSpPr txBox="1"/>
          <p:nvPr/>
        </p:nvSpPr>
        <p:spPr>
          <a:xfrm>
            <a:off x="226509" y="3124200"/>
            <a:ext cx="2394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</a:t>
            </a:r>
          </a:p>
          <a:p>
            <a:r>
              <a:rPr lang="en-US" dirty="0"/>
              <a:t>-otoliths for most of the CPUE </a:t>
            </a:r>
          </a:p>
          <a:p>
            <a:r>
              <a:rPr lang="en-US" dirty="0"/>
              <a:t>-Genetics data for all otoliths. </a:t>
            </a:r>
          </a:p>
        </p:txBody>
      </p:sp>
    </p:spTree>
    <p:extLst>
      <p:ext uri="{BB962C8B-B14F-4D97-AF65-F5344CB8AC3E}">
        <p14:creationId xmlns:p14="http://schemas.microsoft.com/office/powerpoint/2010/main" val="328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E41DF-D14D-13A6-ACCB-912C9300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68D9-387A-3681-EDE6-F2EFAFC2F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723089"/>
            <a:ext cx="2636878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2700" dirty="0"/>
              <a:t>a)  use only complete datasets (2015,2016, 2021) 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0AC8C0AE-A892-EE1B-FB8E-853FF4616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50959" y="152470"/>
            <a:ext cx="7863670" cy="6553060"/>
          </a:xfrm>
        </p:spPr>
      </p:pic>
      <p:sp>
        <p:nvSpPr>
          <p:cNvPr id="8" name="Multiply 7">
            <a:extLst>
              <a:ext uri="{FF2B5EF4-FFF2-40B4-BE49-F238E27FC236}">
                <a16:creationId xmlns:a16="http://schemas.microsoft.com/office/drawing/2014/main" id="{A19C9B3C-D412-72BF-62AD-AEF0EC9A0C02}"/>
              </a:ext>
            </a:extLst>
          </p:cNvPr>
          <p:cNvSpPr/>
          <p:nvPr/>
        </p:nvSpPr>
        <p:spPr>
          <a:xfrm>
            <a:off x="3208713" y="723089"/>
            <a:ext cx="399011" cy="40744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71A03042-4494-5115-C5C1-7DF5F1087CA7}"/>
              </a:ext>
            </a:extLst>
          </p:cNvPr>
          <p:cNvSpPr/>
          <p:nvPr/>
        </p:nvSpPr>
        <p:spPr>
          <a:xfrm>
            <a:off x="3202993" y="1703991"/>
            <a:ext cx="399011" cy="40744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5922C041-5B3A-1930-DCBA-EF5344CADF55}"/>
              </a:ext>
            </a:extLst>
          </p:cNvPr>
          <p:cNvSpPr/>
          <p:nvPr/>
        </p:nvSpPr>
        <p:spPr>
          <a:xfrm>
            <a:off x="3263775" y="5577839"/>
            <a:ext cx="399011" cy="40744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64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16B6C-CF67-77DC-E0BE-38361078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3E3BE-E778-F695-6408-D4779F3FB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23089"/>
            <a:ext cx="3722359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2700" dirty="0"/>
              <a:t>b) Trim by date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E48E89D1-AE12-6330-60A0-4DBFF98B12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50959" y="651233"/>
            <a:ext cx="6178693" cy="5148912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FD29D8-52F9-E8BC-149C-6915FB1A681C}"/>
              </a:ext>
            </a:extLst>
          </p:cNvPr>
          <p:cNvCxnSpPr>
            <a:cxnSpLocks/>
          </p:cNvCxnSpPr>
          <p:nvPr/>
        </p:nvCxnSpPr>
        <p:spPr>
          <a:xfrm>
            <a:off x="7232621" y="407088"/>
            <a:ext cx="0" cy="6450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75BD5D-F306-2B66-2CDB-E8B7C6CD01F7}"/>
              </a:ext>
            </a:extLst>
          </p:cNvPr>
          <p:cNvCxnSpPr/>
          <p:nvPr/>
        </p:nvCxnSpPr>
        <p:spPr>
          <a:xfrm>
            <a:off x="2089779" y="6252634"/>
            <a:ext cx="50929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2DF0DA0-0460-B715-92F4-CAC8FF7D0F11}"/>
              </a:ext>
            </a:extLst>
          </p:cNvPr>
          <p:cNvSpPr txBox="1"/>
          <p:nvPr/>
        </p:nvSpPr>
        <p:spPr>
          <a:xfrm>
            <a:off x="2039932" y="5883302"/>
            <a:ext cx="3657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DOY ~172 we could use all years</a:t>
            </a:r>
          </a:p>
        </p:txBody>
      </p:sp>
    </p:spTree>
    <p:extLst>
      <p:ext uri="{BB962C8B-B14F-4D97-AF65-F5344CB8AC3E}">
        <p14:creationId xmlns:p14="http://schemas.microsoft.com/office/powerpoint/2010/main" val="322739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1E88-F8D7-A500-1B85-0F1DA77F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438D-5505-EDA8-AB17-099FA6ADB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23089"/>
            <a:ext cx="3722359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2700" dirty="0"/>
              <a:t>b) Trim by date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7FFEB402-60A4-BF25-4D81-9C9F2EF61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50959" y="651233"/>
            <a:ext cx="6178693" cy="5148912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68BD79-98F6-B276-68B0-C9E570AB63C6}"/>
              </a:ext>
            </a:extLst>
          </p:cNvPr>
          <p:cNvCxnSpPr>
            <a:cxnSpLocks/>
          </p:cNvCxnSpPr>
          <p:nvPr/>
        </p:nvCxnSpPr>
        <p:spPr>
          <a:xfrm>
            <a:off x="8218273" y="496152"/>
            <a:ext cx="0" cy="6450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7D9AA7-DB9A-B4F3-3DE9-3771718F837D}"/>
              </a:ext>
            </a:extLst>
          </p:cNvPr>
          <p:cNvCxnSpPr/>
          <p:nvPr/>
        </p:nvCxnSpPr>
        <p:spPr>
          <a:xfrm>
            <a:off x="2089779" y="6252634"/>
            <a:ext cx="50929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041149C-A573-F234-08B6-9D98335CA5FF}"/>
              </a:ext>
            </a:extLst>
          </p:cNvPr>
          <p:cNvSpPr txBox="1"/>
          <p:nvPr/>
        </p:nvSpPr>
        <p:spPr>
          <a:xfrm>
            <a:off x="2039932" y="5883302"/>
            <a:ext cx="528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DOY ~182 we could use 2015, 2016,2018, 2021</a:t>
            </a:r>
          </a:p>
        </p:txBody>
      </p:sp>
    </p:spTree>
    <p:extLst>
      <p:ext uri="{BB962C8B-B14F-4D97-AF65-F5344CB8AC3E}">
        <p14:creationId xmlns:p14="http://schemas.microsoft.com/office/powerpoint/2010/main" val="1215046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0338-5233-DE70-6F69-B63D6FB9C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BBB02-AAC9-4487-1DD6-5C2E9FEE2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23089"/>
            <a:ext cx="3722359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2700" dirty="0"/>
              <a:t>b) Trim by CPUE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FCA55CBE-C0EA-376A-367B-BEF5E34AC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50959" y="651233"/>
            <a:ext cx="6178693" cy="5148912"/>
          </a:xfrm>
        </p:spPr>
      </p:pic>
    </p:spTree>
    <p:extLst>
      <p:ext uri="{BB962C8B-B14F-4D97-AF65-F5344CB8AC3E}">
        <p14:creationId xmlns:p14="http://schemas.microsoft.com/office/powerpoint/2010/main" val="2664272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EF6D-67FC-2CAA-73E5-0864387B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530" y="3032329"/>
            <a:ext cx="10515600" cy="1325563"/>
          </a:xfrm>
        </p:spPr>
        <p:txBody>
          <a:bodyPr/>
          <a:lstStyle/>
          <a:p>
            <a:r>
              <a:rPr lang="en-US" dirty="0"/>
              <a:t>Maps with DOY 173 cutoff 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086469C6-9423-F2E6-0C5F-1A8DFC37D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6276" y="1944196"/>
            <a:ext cx="3911780" cy="3259817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8B94E9-ADFE-6E4F-C583-28F38DDDE37B}"/>
              </a:ext>
            </a:extLst>
          </p:cNvPr>
          <p:cNvSpPr/>
          <p:nvPr/>
        </p:nvSpPr>
        <p:spPr>
          <a:xfrm>
            <a:off x="9122872" y="1702861"/>
            <a:ext cx="2016799" cy="3501151"/>
          </a:xfrm>
          <a:prstGeom prst="rect">
            <a:avLst/>
          </a:prstGeom>
          <a:solidFill>
            <a:schemeClr val="bg1">
              <a:alpha val="9161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1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BF12-36E6-D634-19D6-5642C614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7EE673A4-5117-99B4-AF23-143D5F793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7695028" cy="6840025"/>
          </a:xfrm>
        </p:spPr>
      </p:pic>
    </p:spTree>
    <p:extLst>
      <p:ext uri="{BB962C8B-B14F-4D97-AF65-F5344CB8AC3E}">
        <p14:creationId xmlns:p14="http://schemas.microsoft.com/office/powerpoint/2010/main" val="3829913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F0A6D-49B4-2555-B29B-AA8B9C53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76771674-D560-E78F-BB71-78DD8FF47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7715251" cy="6858001"/>
          </a:xfrm>
        </p:spPr>
      </p:pic>
    </p:spTree>
    <p:extLst>
      <p:ext uri="{BB962C8B-B14F-4D97-AF65-F5344CB8AC3E}">
        <p14:creationId xmlns:p14="http://schemas.microsoft.com/office/powerpoint/2010/main" val="2833429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DE57-0CE0-582B-80B3-25ADF5BCF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497B4C30-B80E-5265-A73D-0F7D1B254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7715251" cy="6858001"/>
          </a:xfrm>
        </p:spPr>
      </p:pic>
    </p:spTree>
    <p:extLst>
      <p:ext uri="{BB962C8B-B14F-4D97-AF65-F5344CB8AC3E}">
        <p14:creationId xmlns:p14="http://schemas.microsoft.com/office/powerpoint/2010/main" val="1210898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8846-F5C9-3360-5AD4-B9A2570C9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7AAA9ED7-577D-90E2-DEEA-22E46040F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7715250" cy="6858001"/>
          </a:xfrm>
        </p:spPr>
      </p:pic>
    </p:spTree>
    <p:extLst>
      <p:ext uri="{BB962C8B-B14F-4D97-AF65-F5344CB8AC3E}">
        <p14:creationId xmlns:p14="http://schemas.microsoft.com/office/powerpoint/2010/main" val="1998772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5A657-8C47-D2C9-6BCB-F048D29B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9B38429D-E16F-D497-B1F2-489D5C91F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0"/>
            <a:ext cx="7723163" cy="6865034"/>
          </a:xfrm>
        </p:spPr>
      </p:pic>
    </p:spTree>
    <p:extLst>
      <p:ext uri="{BB962C8B-B14F-4D97-AF65-F5344CB8AC3E}">
        <p14:creationId xmlns:p14="http://schemas.microsoft.com/office/powerpoint/2010/main" val="2032031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8A4F3-FDD3-3BD4-074B-ECA2E6B2F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3AB5A3B0-B6C5-405B-DD5B-EE164A226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7715249" cy="6858000"/>
          </a:xfrm>
        </p:spPr>
      </p:pic>
    </p:spTree>
    <p:extLst>
      <p:ext uri="{BB962C8B-B14F-4D97-AF65-F5344CB8AC3E}">
        <p14:creationId xmlns:p14="http://schemas.microsoft.com/office/powerpoint/2010/main" val="3080422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12CDA-E966-98AA-AD55-05DA5982B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map of a river&#10;&#10;AI-generated content may be incorrect.">
            <a:extLst>
              <a:ext uri="{FF2B5EF4-FFF2-40B4-BE49-F238E27FC236}">
                <a16:creationId xmlns:a16="http://schemas.microsoft.com/office/drawing/2014/main" id="{DAEBE12E-935F-C16C-8D49-D2204E611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86" y="51663"/>
            <a:ext cx="3252275" cy="2890911"/>
          </a:xfrm>
          <a:prstGeom prst="rect">
            <a:avLst/>
          </a:prstGeom>
        </p:spPr>
      </p:pic>
      <p:pic>
        <p:nvPicPr>
          <p:cNvPr id="26" name="Picture 25" descr="A map of a river&#10;&#10;AI-generated content may be incorrect.">
            <a:extLst>
              <a:ext uri="{FF2B5EF4-FFF2-40B4-BE49-F238E27FC236}">
                <a16:creationId xmlns:a16="http://schemas.microsoft.com/office/drawing/2014/main" id="{6642C9D1-61E6-C182-21FC-4F9A4ED3D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572" y="105629"/>
            <a:ext cx="3162502" cy="2811113"/>
          </a:xfrm>
          <a:prstGeom prst="rect">
            <a:avLst/>
          </a:prstGeom>
        </p:spPr>
      </p:pic>
      <p:pic>
        <p:nvPicPr>
          <p:cNvPr id="10" name="Picture 9" descr="A map of a river&#10;&#10;AI-generated content may be incorrect.">
            <a:extLst>
              <a:ext uri="{FF2B5EF4-FFF2-40B4-BE49-F238E27FC236}">
                <a16:creationId xmlns:a16="http://schemas.microsoft.com/office/drawing/2014/main" id="{34966CA0-37A7-D8EF-4D77-90E37D468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469" y="-1"/>
            <a:ext cx="3252275" cy="2890911"/>
          </a:xfrm>
          <a:prstGeom prst="rect">
            <a:avLst/>
          </a:prstGeom>
        </p:spPr>
      </p:pic>
      <p:pic>
        <p:nvPicPr>
          <p:cNvPr id="12" name="Picture 11" descr="A map of a river&#10;&#10;AI-generated content may be incorrect.">
            <a:extLst>
              <a:ext uri="{FF2B5EF4-FFF2-40B4-BE49-F238E27FC236}">
                <a16:creationId xmlns:a16="http://schemas.microsoft.com/office/drawing/2014/main" id="{8EFD9DF7-847B-F909-A519-1014FBD6C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07" y="2970709"/>
            <a:ext cx="3252276" cy="2890912"/>
          </a:xfrm>
          <a:prstGeom prst="rect">
            <a:avLst/>
          </a:prstGeom>
        </p:spPr>
      </p:pic>
      <p:pic>
        <p:nvPicPr>
          <p:cNvPr id="14" name="Picture 13" descr="A map of a river&#10;&#10;AI-generated content may be incorrect.">
            <a:extLst>
              <a:ext uri="{FF2B5EF4-FFF2-40B4-BE49-F238E27FC236}">
                <a16:creationId xmlns:a16="http://schemas.microsoft.com/office/drawing/2014/main" id="{972A02E1-F030-6CA2-B239-4CE095FF75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0572" y="2942574"/>
            <a:ext cx="3315580" cy="2947182"/>
          </a:xfrm>
          <a:prstGeom prst="rect">
            <a:avLst/>
          </a:prstGeom>
        </p:spPr>
      </p:pic>
      <p:pic>
        <p:nvPicPr>
          <p:cNvPr id="16" name="Picture 15" descr="A map of a river&#10;&#10;AI-generated content may be incorrect.">
            <a:extLst>
              <a:ext uri="{FF2B5EF4-FFF2-40B4-BE49-F238E27FC236}">
                <a16:creationId xmlns:a16="http://schemas.microsoft.com/office/drawing/2014/main" id="{FF9EEE9E-9E6E-7E36-2E6E-AA1AA69D35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816" y="2890910"/>
            <a:ext cx="3315580" cy="294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51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F7F9-EF61-0A1A-0C43-874BE628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005"/>
            <a:ext cx="10515600" cy="1325563"/>
          </a:xfrm>
        </p:spPr>
        <p:txBody>
          <a:bodyPr/>
          <a:lstStyle/>
          <a:p>
            <a:r>
              <a:rPr lang="en-US" dirty="0"/>
              <a:t>These maps don’t include 2 important priors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DE026-DA39-AB91-941A-5D610C854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568"/>
            <a:ext cx="10515600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Habitat prior (turn off areas not suitable for Chinook)</a:t>
            </a:r>
          </a:p>
          <a:p>
            <a:pPr lvl="1">
              <a:buFontTx/>
              <a:buChar char="-"/>
            </a:pPr>
            <a:r>
              <a:rPr lang="en-US" dirty="0"/>
              <a:t>Slope</a:t>
            </a:r>
          </a:p>
          <a:p>
            <a:pPr lvl="1">
              <a:buFontTx/>
              <a:buChar char="-"/>
            </a:pPr>
            <a:r>
              <a:rPr lang="en-US" dirty="0"/>
              <a:t>Unlocked path </a:t>
            </a:r>
          </a:p>
          <a:p>
            <a:pPr lvl="1">
              <a:buFontTx/>
              <a:buChar char="-"/>
            </a:pPr>
            <a:r>
              <a:rPr lang="en-US" dirty="0"/>
              <a:t>Etc. </a:t>
            </a:r>
          </a:p>
          <a:p>
            <a:pPr lvl="1"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“Presence” prior (turn off areas fish that have been observed not to have fish) 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Much higher quality for the US portion of the basin </a:t>
            </a:r>
          </a:p>
        </p:txBody>
      </p:sp>
    </p:spTree>
    <p:extLst>
      <p:ext uri="{BB962C8B-B14F-4D97-AF65-F5344CB8AC3E}">
        <p14:creationId xmlns:p14="http://schemas.microsoft.com/office/powerpoint/2010/main" val="869179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67792-6CFF-8C6C-98D9-E0E6C8A8A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4403" y="1473933"/>
            <a:ext cx="4048037" cy="1566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Previous habitat prior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5CFB50-5C96-2A9D-2937-1F47371E0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936" y="400175"/>
            <a:ext cx="4649372" cy="279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4B50D3-854C-95A7-D011-203B7507C09A}"/>
              </a:ext>
            </a:extLst>
          </p:cNvPr>
          <p:cNvSpPr txBox="1"/>
          <p:nvPr/>
        </p:nvSpPr>
        <p:spPr>
          <a:xfrm>
            <a:off x="4046220" y="2855749"/>
            <a:ext cx="6094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0D44543-C4E0-A241-F063-25101361E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936" y="3383374"/>
            <a:ext cx="4649372" cy="3117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80257F-C511-BE51-9F5C-AF3421615115}"/>
              </a:ext>
            </a:extLst>
          </p:cNvPr>
          <p:cNvSpPr txBox="1"/>
          <p:nvPr/>
        </p:nvSpPr>
        <p:spPr>
          <a:xfrm>
            <a:off x="6516537" y="4127151"/>
            <a:ext cx="60948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USGS Spawner Intrinsic Potential </a:t>
            </a:r>
            <a:endParaRPr lang="en-US" b="1" dirty="0">
              <a:effectLst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Dark red .8-1</a:t>
            </a: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Orange: .5 -.8</a:t>
            </a: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Grey &lt;.5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91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6404-D563-CFFF-F653-CECF9B49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have Chinook salmon been observed to have been spawning?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A6CA3-1FF5-307C-D9AB-8E64059B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658" y="1825625"/>
            <a:ext cx="4151142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Goereferenced</a:t>
            </a:r>
            <a:r>
              <a:rPr lang="en-US" dirty="0"/>
              <a:t> spawner observation values from .. </a:t>
            </a:r>
          </a:p>
          <a:p>
            <a:pPr marL="0" indent="0">
              <a:buNone/>
            </a:pPr>
            <a:endParaRPr lang="en-US" dirty="0"/>
          </a:p>
          <a:p>
            <a:pPr fontAlgn="base"/>
            <a:r>
              <a:rPr lang="en-US" dirty="0"/>
              <a:t>Alaska Freshwater fish inventory</a:t>
            </a:r>
          </a:p>
          <a:p>
            <a:pPr fontAlgn="base"/>
            <a:r>
              <a:rPr lang="en-US" dirty="0"/>
              <a:t>Anadromous waters catalog</a:t>
            </a:r>
          </a:p>
          <a:p>
            <a:pPr fontAlgn="base"/>
            <a:r>
              <a:rPr lang="en-US" dirty="0"/>
              <a:t>Yukon Chinook Spawning catalogue (Brown et al., 2017)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B20F442-4C7E-89AB-E4A1-12DCA27A5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6241977" cy="4283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377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770AC-3D1A-DDB1-CBB5-0CBF1651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BA68C-6E11-24FF-0F63-BE170DB3A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4190" y="1246920"/>
            <a:ext cx="5149948" cy="41109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 could…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a) Focus on the US portion of the watershed (s)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b) Pull out some general “rules from the IP/presence mapping and apply them to CA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c) Try to stitch together our own based on expert knowledge?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B0C6D982-51FA-D83C-E52A-324D997C9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4" y="837028"/>
            <a:ext cx="5547067" cy="493072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988C17-9C89-3505-EA05-97BDCDCE09B9}"/>
              </a:ext>
            </a:extLst>
          </p:cNvPr>
          <p:cNvCxnSpPr/>
          <p:nvPr/>
        </p:nvCxnSpPr>
        <p:spPr>
          <a:xfrm>
            <a:off x="3678702" y="1863969"/>
            <a:ext cx="196947" cy="21312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659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E9A9-D9E8-4543-35B6-6AA727532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9228-9237-7C45-E421-67ABC6EE8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8751" y="1246920"/>
            <a:ext cx="5149948" cy="41109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Using only the US…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Consistently the highest quality assignments </a:t>
            </a:r>
          </a:p>
          <a:p>
            <a:pPr marL="514350" indent="-514350">
              <a:buAutoNum type="arabicParenR"/>
            </a:pPr>
            <a:r>
              <a:rPr lang="en-US" dirty="0"/>
              <a:t>Some awkward redundancy in CA </a:t>
            </a:r>
            <a:r>
              <a:rPr lang="en-US" dirty="0" err="1"/>
              <a:t>isoscape</a:t>
            </a: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Highest production is mostly in CA, washes out productivity in the lower watershed </a:t>
            </a:r>
          </a:p>
          <a:p>
            <a:pPr marL="514350" indent="-514350">
              <a:buAutoNum type="arabicParenR"/>
            </a:pPr>
            <a:r>
              <a:rPr lang="en-US" dirty="0"/>
              <a:t>2015 results conflict with other studies (sampling error?) 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  <p:pic>
        <p:nvPicPr>
          <p:cNvPr id="4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CF5D4CF6-F25E-5297-F328-1EA399C45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4" y="837028"/>
            <a:ext cx="5547067" cy="493072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B03830-C6A4-3EA8-5072-08FEC30E1E0A}"/>
              </a:ext>
            </a:extLst>
          </p:cNvPr>
          <p:cNvCxnSpPr/>
          <p:nvPr/>
        </p:nvCxnSpPr>
        <p:spPr>
          <a:xfrm>
            <a:off x="3678702" y="1863969"/>
            <a:ext cx="196947" cy="21312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786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20C2B-40E0-694F-D475-8CE5EE2FE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Tributary maps are visually helpful, but difficult to compare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968A2-BA52-B668-C5E1-EC3735778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Binning production into ”regions” would allow us to calculate meaningful statistics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C68AAF32-5478-2D31-BFDB-A7FC12F92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07" y="2941320"/>
            <a:ext cx="3995499" cy="3551555"/>
          </a:xfrm>
          <a:prstGeom prst="rect">
            <a:avLst/>
          </a:prstGeom>
        </p:spPr>
      </p:pic>
      <p:pic>
        <p:nvPicPr>
          <p:cNvPr id="6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B2830762-9119-1377-814E-DFC38BBBD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699" y="2941320"/>
            <a:ext cx="3995499" cy="355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24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C2FE8-5B7D-EAF7-2F44-D2179C6E2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could..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A) try to bin based on </a:t>
            </a:r>
            <a:r>
              <a:rPr lang="en-US" dirty="0" err="1"/>
              <a:t>isoscape</a:t>
            </a:r>
            <a:r>
              <a:rPr lang="en-US" dirty="0"/>
              <a:t>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F0A32-F763-C82E-B3AC-812535479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Manageable for the Kuskokwim…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Difficult in the Yukon…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2237B3-3CA5-F2E8-3130-7EBD5D113C6D}"/>
              </a:ext>
            </a:extLst>
          </p:cNvPr>
          <p:cNvSpPr txBox="1"/>
          <p:nvPr/>
        </p:nvSpPr>
        <p:spPr>
          <a:xfrm>
            <a:off x="949569" y="4804117"/>
            <a:ext cx="360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more defensible if we can meaningfully say which regions we can discriminate between. </a:t>
            </a:r>
          </a:p>
        </p:txBody>
      </p:sp>
    </p:spTree>
    <p:extLst>
      <p:ext uri="{BB962C8B-B14F-4D97-AF65-F5344CB8AC3E}">
        <p14:creationId xmlns:p14="http://schemas.microsoft.com/office/powerpoint/2010/main" val="6754542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111BA-C646-061D-2FBE-87837A967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D1CD-B6C3-C1DB-EF3C-E53286CC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could..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B) try to bin by sub-watershed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E881-9BE7-FF15-BE80-36814BF9F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Standardized sub watershed </a:t>
            </a:r>
            <a:r>
              <a:rPr lang="en-US" dirty="0" err="1"/>
              <a:t>polgyons</a:t>
            </a:r>
            <a:r>
              <a:rPr lang="en-US" dirty="0"/>
              <a:t> available at multiple spatial scales for both watersheds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criticism would be that some polygons may be the same isotope value</a:t>
            </a:r>
          </a:p>
        </p:txBody>
      </p:sp>
    </p:spTree>
    <p:extLst>
      <p:ext uri="{BB962C8B-B14F-4D97-AF65-F5344CB8AC3E}">
        <p14:creationId xmlns:p14="http://schemas.microsoft.com/office/powerpoint/2010/main" val="3525959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97A6D4-FD02-2213-D01A-E389815892F9}"/>
              </a:ext>
            </a:extLst>
          </p:cNvPr>
          <p:cNvSpPr/>
          <p:nvPr/>
        </p:nvSpPr>
        <p:spPr>
          <a:xfrm>
            <a:off x="-909877" y="0"/>
            <a:ext cx="13240421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0D3D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C5F3398-AA88-449D-D3C4-6D8DBCEE2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388" y="964479"/>
            <a:ext cx="6825156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BE9A67-2456-E8AB-D6D1-352EBC02FD36}"/>
              </a:ext>
            </a:extLst>
          </p:cNvPr>
          <p:cNvSpPr txBox="1"/>
          <p:nvPr/>
        </p:nvSpPr>
        <p:spPr>
          <a:xfrm>
            <a:off x="151457" y="641313"/>
            <a:ext cx="5183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Do we see shifting patterns of natal origin production across years? Growth patterns?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82BD0-61A7-A8EE-C919-C8B5507AF67C}"/>
              </a:ext>
            </a:extLst>
          </p:cNvPr>
          <p:cNvSpPr txBox="1"/>
          <p:nvPr/>
        </p:nvSpPr>
        <p:spPr>
          <a:xfrm>
            <a:off x="151455" y="2694754"/>
            <a:ext cx="5183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Is there a relationship between productivity and variability? Are the most productive regions reliably always productive?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120800-53F0-1C44-4976-B59301F462F9}"/>
              </a:ext>
            </a:extLst>
          </p:cNvPr>
          <p:cNvSpPr txBox="1"/>
          <p:nvPr/>
        </p:nvSpPr>
        <p:spPr>
          <a:xfrm>
            <a:off x="151456" y="4669487"/>
            <a:ext cx="5183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Do uncorrelated components result in less variability at larger spatial scales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E55A08-FD0A-0C36-F996-29D4247E87DB}"/>
              </a:ext>
            </a:extLst>
          </p:cNvPr>
          <p:cNvSpPr txBox="1"/>
          <p:nvPr/>
        </p:nvSpPr>
        <p:spPr>
          <a:xfrm>
            <a:off x="151457" y="1440873"/>
            <a:ext cx="5043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Qualitative maps showing changing production, CV by polygon, same thing but with growth (otolith microns)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02917-EC3B-BD9D-DD53-CB5C26EC5E90}"/>
              </a:ext>
            </a:extLst>
          </p:cNvPr>
          <p:cNvSpPr txBox="1"/>
          <p:nvPr/>
        </p:nvSpPr>
        <p:spPr>
          <a:xfrm>
            <a:off x="290945" y="3810000"/>
            <a:ext cx="451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Convert relative production to # of fish -&gt; returners vs CV.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425BC-00A3-F715-D180-0FE089438351}"/>
              </a:ext>
            </a:extLst>
          </p:cNvPr>
          <p:cNvSpPr txBox="1"/>
          <p:nvPr/>
        </p:nvSpPr>
        <p:spPr>
          <a:xfrm>
            <a:off x="387927" y="5444836"/>
            <a:ext cx="46274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Calculate covariance among groups</a:t>
            </a:r>
          </a:p>
          <a:p>
            <a:r>
              <a:rPr lang="en-US" dirty="0">
                <a:highlight>
                  <a:srgbClr val="FFFF00"/>
                </a:highlight>
              </a:rPr>
              <a:t>Calculate variability at several spatial scales (basin, sub-basin, smaller sub basin) , compare CV </a:t>
            </a:r>
          </a:p>
        </p:txBody>
      </p:sp>
    </p:spTree>
    <p:extLst>
      <p:ext uri="{BB962C8B-B14F-4D97-AF65-F5344CB8AC3E}">
        <p14:creationId xmlns:p14="http://schemas.microsoft.com/office/powerpoint/2010/main" val="2487106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39F3B-6FF4-01BF-22F2-5C3CB655F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Thoughts? </a:t>
            </a:r>
          </a:p>
        </p:txBody>
      </p:sp>
    </p:spTree>
    <p:extLst>
      <p:ext uri="{BB962C8B-B14F-4D97-AF65-F5344CB8AC3E}">
        <p14:creationId xmlns:p14="http://schemas.microsoft.com/office/powerpoint/2010/main" val="3288659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3424</TotalTime>
  <Words>679</Words>
  <Application>Microsoft Macintosh PowerPoint</Application>
  <PresentationFormat>Widescreen</PresentationFormat>
  <Paragraphs>97</Paragraphs>
  <Slides>31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Black</vt:lpstr>
      <vt:lpstr>Aptos Display</vt:lpstr>
      <vt:lpstr>Arial</vt:lpstr>
      <vt:lpstr>Office Theme</vt:lpstr>
      <vt:lpstr>SMH2 Brainstorm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Variance buffering at scale</vt:lpstr>
      <vt:lpstr>PowerPoint Presentation</vt:lpstr>
      <vt:lpstr>For the Yukon, we have 6 years of data. But most are incomplete:  </vt:lpstr>
      <vt:lpstr>  a)  use only complete datasets (2015,2016, 2021) </vt:lpstr>
      <vt:lpstr>  b) Trim by date</vt:lpstr>
      <vt:lpstr>  b) Trim by date</vt:lpstr>
      <vt:lpstr>  b) Trim by CPUE</vt:lpstr>
      <vt:lpstr>Maps with DOY 173 cutoff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These maps don’t include 2 important priors</vt:lpstr>
      <vt:lpstr>PowerPoint Presentation</vt:lpstr>
      <vt:lpstr>Where have Chinook salmon been observed to have been spawning?</vt:lpstr>
      <vt:lpstr>PowerPoint Presentation</vt:lpstr>
      <vt:lpstr>PowerPoint Presentation</vt:lpstr>
      <vt:lpstr>Tributary maps are visually helpful, but difficult to compare</vt:lpstr>
      <vt:lpstr>We could..   A) try to bin based on isoscape values</vt:lpstr>
      <vt:lpstr>We could..   B) try to bin by sub-watershed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J. Makhlouf</dc:creator>
  <cp:lastModifiedBy>bmak29</cp:lastModifiedBy>
  <cp:revision>7</cp:revision>
  <dcterms:created xsi:type="dcterms:W3CDTF">2025-11-22T05:13:35Z</dcterms:created>
  <dcterms:modified xsi:type="dcterms:W3CDTF">2025-12-01T17:29:58Z</dcterms:modified>
</cp:coreProperties>
</file>